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12ACF1-19F5-459C-98A9-E98D20A1CC97}">
  <a:tblStyle styleId="{A712ACF1-19F5-459C-98A9-E98D20A1CC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24051d20f8ed6e2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24051d20f8ed6e2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spreadsheets/u/0/d/1MhmgYH8Q-Ky2T_73SjokhUYGYVmsODdbLohsNGCFKyo/edit" TargetMode="External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3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4500"/>
              <a:t>Análise da Produção Agrícola de Pernambuco</a:t>
            </a:r>
            <a:endParaRPr sz="4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594525" y="21754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Emerson Emanoel Alves Lacerda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emerson.lacerda@ufrpe.br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64100" y="3626725"/>
            <a:ext cx="85206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Fonte dos Dados: </a:t>
            </a:r>
            <a:r>
              <a:rPr lang="pt-BR" sz="2000"/>
              <a:t>https://sidra.ibge.gov.br/tabela/5457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Aplicação OLAP: &lt;</a:t>
            </a:r>
            <a:r>
              <a:rPr lang="pt-BR" sz="2000"/>
              <a:t>Em desenvolvimento</a:t>
            </a:r>
            <a:r>
              <a:rPr lang="pt-BR" sz="2000"/>
              <a:t>&gt;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Github: &lt;</a:t>
            </a:r>
            <a:r>
              <a:rPr lang="pt-BR" sz="2000"/>
              <a:t>Em desenvolvimento</a:t>
            </a:r>
            <a:r>
              <a:rPr lang="pt-BR" sz="2000"/>
              <a:t>&gt; </a:t>
            </a:r>
            <a:r>
              <a:rPr lang="pt-BR" sz="2000">
                <a:solidFill>
                  <a:srgbClr val="FF0000"/>
                </a:solidFill>
              </a:rPr>
              <a:t>incluir modelos, plano de carga, apresentação, aplicação OLAP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1 - PLANEJAMENTO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pt-BR" sz="2300"/>
              <a:t>Contextualização</a:t>
            </a:r>
            <a:endParaRPr sz="23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 agricultura possui grande importância econômica e social para o estado de Pernambuco, envolvendo diferentes culturas agrícolas e municípios produtores.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 Pesquisa da Produção Agrícola Municipal (PAM), disponibilizada pelo IBGE, reúne dados anuais sobre a produção agrícola dos municípios brasileiros.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Neste projeto, será desenvolvido um Data Mart voltado para a análise da produção agrícola de Pernambuco, permitindo organizar e analisar dados históricos de diferentes culturas e municípios no período de </a:t>
            </a:r>
            <a:r>
              <a:rPr b="1" lang="pt-BR"/>
              <a:t>2016 a 2025.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2"/>
            </a:pPr>
            <a:r>
              <a:rPr lang="pt-BR" sz="2300"/>
              <a:t>Escopo/objetivo do Data Mart</a:t>
            </a:r>
            <a:endParaRPr sz="23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Objetivo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Desenvolver um Data Mart para apoiar a análise da produção agrícola dos municípios de Pernambuco, permitindo acompanhar a evolução dos dados e realizar comparações entre municípios, culturas agrícolas e períodos. </a:t>
            </a:r>
            <a:endParaRPr/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Escopo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t-BR"/>
              <a:t>Fonte:</a:t>
            </a:r>
            <a:r>
              <a:rPr lang="pt-BR"/>
              <a:t> PAM/IBGE;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t-BR"/>
              <a:t>Abrangência:</a:t>
            </a:r>
            <a:r>
              <a:rPr lang="pt-BR"/>
              <a:t> municípios de Pernambuco;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t-BR"/>
              <a:t>Período:</a:t>
            </a:r>
            <a:r>
              <a:rPr lang="pt-BR"/>
              <a:t> 2016 a 2025;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t-BR"/>
              <a:t>Área analisada:</a:t>
            </a:r>
            <a:r>
              <a:rPr lang="pt-BR"/>
              <a:t> produção agrícola;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t-BR"/>
              <a:t>Dados:</a:t>
            </a:r>
            <a:r>
              <a:rPr lang="pt-BR"/>
              <a:t> área, produção, rendimento e valor da produção.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3"/>
            </a:pPr>
            <a:r>
              <a:rPr lang="pt-BR" sz="2300"/>
              <a:t>Arquitetura Tecnológica</a:t>
            </a:r>
            <a:endParaRPr sz="23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PAM / IBGE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SIDRA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    ↓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Arquivo CSV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2016–2025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    ↓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Pentaho Data Integration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PDI / ETL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    ↓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SGBD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Data Mart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    ↓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Microsoft Power BI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Aplicação OLAP</a:t>
            </a:r>
            <a:endParaRPr b="1" sz="1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300"/>
              <a:t>    ↓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300"/>
              <a:t>Usuários</a:t>
            </a:r>
            <a:endParaRPr b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4"/>
            </a:pPr>
            <a:r>
              <a:rPr lang="pt-BR" sz="2300"/>
              <a:t>Processo</a:t>
            </a:r>
            <a:endParaRPr sz="23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Planejamento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 ↓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Levantamento das Necessidades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 ↓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Modelagem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 ↓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Projeto Físico do BD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 ↓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Extração, Transformação e Carga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600"/>
              <a:t> ↓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600"/>
              <a:t>Aplicação OLAP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4"/>
            </a:pPr>
            <a:r>
              <a:rPr lang="pt-BR" sz="2300"/>
              <a:t>Abordagem</a:t>
            </a:r>
            <a:endParaRPr sz="23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Abordagem de desenvolvimento: Bottom-Up</a:t>
            </a:r>
            <a:br>
              <a:rPr b="1" lang="pt-BR"/>
            </a:br>
            <a:r>
              <a:rPr lang="pt-BR"/>
              <a:t>O projeto utiliza a abordagem Bottom-Up, partindo da construção de um Data Mart específico para a análise da produção agrícola. </a:t>
            </a:r>
            <a:endParaRPr/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Modelo dimensional: Star Schema</a:t>
            </a:r>
            <a:br>
              <a:rPr b="1" lang="pt-BR"/>
            </a:br>
            <a:r>
              <a:rPr lang="pt-BR"/>
              <a:t>O Star Schema foi escolhido por favorecer o desempenho das consultas analíticas. As dimensões são desnormalizadas, reduzindo a necessidade de junções e tornando o acesso às informações mais simples e rápido.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5"/>
            </a:pPr>
            <a:r>
              <a:rPr lang="pt-BR" sz="2300"/>
              <a:t>Usuários</a:t>
            </a:r>
            <a:endParaRPr sz="23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337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/>
              <a:t>Gestores públicos</a:t>
            </a:r>
            <a:endParaRPr b="1" sz="1500"/>
          </a:p>
          <a:p>
            <a:pPr indent="-323850" lvl="0" marL="457200" marR="381000" rtl="0" algn="ctr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Apoio ao planejamento e acompanhamento da produção agrícola.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/>
              <a:t>Técnicos e profissionais do setor agrícola</a:t>
            </a:r>
            <a:endParaRPr b="1" sz="1500"/>
          </a:p>
          <a:p>
            <a:pPr indent="-323850" lvl="0" marL="457200" marR="381000" rtl="0" algn="ctr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Análise de produção, área, rendimento e valor.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/>
              <a:t>Pesquisadores e estudantes</a:t>
            </a:r>
            <a:endParaRPr b="1" sz="1500"/>
          </a:p>
          <a:p>
            <a:pPr indent="-323850" lvl="0" marL="457200" marR="381000" rtl="0" algn="ctr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Consulta e análise histórica dos dados agrícolas.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/>
              <a:t>Órgãos e instituições ligados à agricultura</a:t>
            </a:r>
            <a:endParaRPr b="1" sz="1500"/>
          </a:p>
          <a:p>
            <a:pPr indent="-323850" lvl="0" marL="457200" marR="381000" rtl="0" algn="ctr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Utilização das informações no acompanhamento e planejamento do setor.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2 - LEVANTAMENTO DAS NECESSIDADES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6"/>
            </a:pPr>
            <a:r>
              <a:rPr lang="pt-BR" sz="2300"/>
              <a:t>Consultas de Apoio à Decisão </a:t>
            </a:r>
            <a:endParaRPr sz="2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AutoNum type="arabicPeriod"/>
            </a:pPr>
            <a:r>
              <a:rPr b="1" lang="pt-BR" sz="1500"/>
              <a:t>Como evoluiu a produção de determinada cultura entre 2016 e 2025?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pt-BR" sz="1500"/>
              <a:t>Quais municípios de Pernambuco apresentam maior produção de determinada cultura?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pt-BR" sz="1500"/>
              <a:t>Como evoluiu o valor da produção agrícola ao longo do período analisado?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pt-BR" sz="1500"/>
              <a:t>Como a área plantada e a área colhida variaram ao longo dos anos?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pt-BR" sz="1500"/>
              <a:t>Quais municípios apresentam maior rendimento médio para determinada cultura?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pt-BR" sz="1500"/>
              <a:t>Quais culturas apresentam maior valor da produção e maior área colhida em determinado período?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pt-BR" sz="1500"/>
              <a:t>Quais culturas apresentaram crescimento ou redução da produção entre 2016 e 2025? </a:t>
            </a:r>
            <a:endParaRPr b="1" sz="15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500"/>
              <a:t>As consultas poderão ser filtradas por </a:t>
            </a:r>
            <a:r>
              <a:rPr b="1" lang="pt-BR" sz="1500"/>
              <a:t>ano, município e cultura agrícola</a:t>
            </a:r>
            <a:r>
              <a:rPr lang="pt-BR" sz="1500"/>
              <a:t>, permitindo diferentes perspectivas de análise.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7"/>
            </a:pPr>
            <a:r>
              <a:rPr lang="pt-BR" sz="2300"/>
              <a:t>Indicadores da </a:t>
            </a:r>
            <a:r>
              <a:rPr lang="pt-BR" sz="2300"/>
              <a:t>Produção Agrícola </a:t>
            </a:r>
            <a:endParaRPr sz="2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-8790475" y="1821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/>
        </p:nvSpPr>
        <p:spPr>
          <a:xfrm>
            <a:off x="820550" y="4606050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/>
              <a:t>Fonte: Pesquisa da Produção Agrícola Municipal — PAM/IBGE, Tabela SIDRA 5457.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23"/>
          <p:cNvGraphicFramePr/>
          <p:nvPr/>
        </p:nvGraphicFramePr>
        <p:xfrm>
          <a:off x="86885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{A712ACF1-19F5-459C-98A9-E98D20A1CC97}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666666"/>
                          </a:solidFill>
                        </a:rPr>
                        <a:t>Indicador</a:t>
                      </a:r>
                      <a:endParaRPr b="1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666666"/>
                          </a:solidFill>
                        </a:rPr>
                        <a:t>O que representa?</a:t>
                      </a:r>
                      <a:endParaRPr b="1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666666"/>
                          </a:solidFill>
                        </a:rPr>
                        <a:t>Unidade</a:t>
                      </a:r>
                      <a:endParaRPr b="1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666666"/>
                          </a:solidFill>
                        </a:rPr>
                        <a:t>Área plantada ou destinada à colheita </a:t>
                      </a:r>
                      <a:endParaRPr b="1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Área ocupada/destinada à cultura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Hectares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666666"/>
                          </a:solidFill>
                        </a:rPr>
                        <a:t>Área colhida </a:t>
                      </a:r>
                      <a:endParaRPr b="1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Área onde a colheita foi efetivamente realizada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Hectares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666666"/>
                          </a:solidFill>
                        </a:rPr>
                        <a:t>Quantidade produzida </a:t>
                      </a:r>
                      <a:endParaRPr b="1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Volume obtido da cultura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Toneladas*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666666"/>
                          </a:solidFill>
                        </a:rPr>
                        <a:t>Rendimento médio da produção </a:t>
                      </a:r>
                      <a:endParaRPr b="1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Relação entre produção e área colhida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kg/ha*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666666"/>
                          </a:solidFill>
                        </a:rPr>
                        <a:t>Valor da produção </a:t>
                      </a:r>
                      <a:endParaRPr b="1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Valor econômico da produção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666666"/>
                          </a:solidFill>
                        </a:rPr>
                        <a:t>Mil Reais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8.  </a:t>
            </a:r>
            <a:r>
              <a:rPr lang="pt-BR" sz="2300"/>
              <a:t>Trabalhos Relacionados </a:t>
            </a:r>
            <a:endParaRPr sz="2300"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4265200"/>
            <a:ext cx="8673900" cy="9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graphicFrame>
        <p:nvGraphicFramePr>
          <p:cNvPr id="123" name="Google Shape;123;p24"/>
          <p:cNvGraphicFramePr/>
          <p:nvPr/>
        </p:nvGraphicFramePr>
        <p:xfrm>
          <a:off x="2159000" y="1139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{A712ACF1-19F5-459C-98A9-E98D20A1CC97}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Trabalho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Indicadores Relacionados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Instabilidade da agricultura familiar no Semiárido 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Área colhida, produtividade e valor da produção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Análise da projeção espacial da fruticultura no Nordeste brasileiro 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Área plantada, produção e valor da produção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As estruturas canavieira e citrícola em Alagoas, Pernambuco e São Paulo 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Produção, área cultivada e rendimento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3 - MODELAGEM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9"/>
            </a:pPr>
            <a:r>
              <a:rPr lang="pt-BR" sz="2300"/>
              <a:t>Modelo Relacional</a:t>
            </a:r>
            <a:endParaRPr sz="2300"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9144000" y="1017725"/>
            <a:ext cx="3224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135" name="Google Shape;135;p26"/>
          <p:cNvSpPr txBox="1"/>
          <p:nvPr/>
        </p:nvSpPr>
        <p:spPr>
          <a:xfrm>
            <a:off x="262350" y="4481600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/>
              <a:t>Dicionário</a:t>
            </a:r>
            <a:r>
              <a:rPr b="1" lang="pt-BR"/>
              <a:t> de Dados: </a:t>
            </a:r>
            <a:r>
              <a:rPr b="1" lang="pt-BR" u="sng">
                <a:solidFill>
                  <a:schemeClr val="hlink"/>
                </a:solidFill>
                <a:hlinkClick r:id="rId3"/>
              </a:rPr>
              <a:t>clique aqui</a:t>
            </a:r>
            <a:endParaRPr b="1"/>
          </a:p>
        </p:txBody>
      </p:sp>
      <p:pic>
        <p:nvPicPr>
          <p:cNvPr id="136" name="Google Shape;136;p26" title="Diagrama do Modelo Relacionalೇತ್ರ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6800" y="1170125"/>
            <a:ext cx="6261149" cy="315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10"/>
            </a:pPr>
            <a:r>
              <a:rPr lang="pt-BR" sz="2300"/>
              <a:t>Modelo Dimensional</a:t>
            </a:r>
            <a:endParaRPr sz="2300"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pt-BR"/>
              <a:t>Área de Negócios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Agricultura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B.    </a:t>
            </a:r>
            <a:r>
              <a:rPr lang="pt-BR"/>
              <a:t>Processo																</a:t>
            </a:r>
            <a:r>
              <a:rPr b="1" lang="pt-BR"/>
              <a:t>Produção Agrícola Municipal de lavouras temporárias e permanentes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C.   </a:t>
            </a:r>
            <a:r>
              <a:rPr lang="pt-BR"/>
              <a:t>Granularidade															</a:t>
            </a:r>
            <a:r>
              <a:rPr b="1" lang="pt-BR"/>
              <a:t>DIM_PRODUTO (Produto agrícola) × DIM_MUNICIPIO (Município) × 			DIM_TEMPO (Ano) 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10"/>
            </a:pPr>
            <a:r>
              <a:rPr lang="pt-BR" sz="2300"/>
              <a:t>Modelo Dimensional - </a:t>
            </a:r>
            <a:r>
              <a:rPr lang="pt-BR" sz="2300"/>
              <a:t>Atributos e Hierarquia das Dimensões</a:t>
            </a:r>
            <a:endParaRPr sz="2300"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As dimensões definidas permitem analisar a produção agrícola sob as perspectivas temporal, geográfica e de produto. A granularidade temporal é anual, enquanto a dimensão geográfica permite análise por município. 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9" name="Google Shape;149;p28" title="Tabelas Dimensionais em Azu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2350"/>
            <a:ext cx="8520599" cy="257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10"/>
            </a:pPr>
            <a:r>
              <a:rPr lang="pt-BR" sz="2300"/>
              <a:t>Modelo Dimensional - </a:t>
            </a:r>
            <a:r>
              <a:rPr lang="pt-BR" sz="2300"/>
              <a:t>Métricas</a:t>
            </a:r>
            <a:r>
              <a:rPr lang="pt-BR" sz="2300"/>
              <a:t> da Fato</a:t>
            </a:r>
            <a:endParaRPr sz="2300"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p29"/>
          <p:cNvGraphicFramePr/>
          <p:nvPr/>
        </p:nvGraphicFramePr>
        <p:xfrm>
          <a:off x="2159000" y="142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{A712ACF1-19F5-459C-98A9-E98D20A1CC97}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Métrica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Tipo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Área plantada ou destinada à colheita 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Semi-aditiva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Área colhida 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Semi-aditiva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Quantidade Produzida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Semi-aditiva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Rendimento médio da produção 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Não-aditiva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Valor de Produção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Aditiva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10"/>
            </a:pPr>
            <a:r>
              <a:rPr lang="pt-BR" sz="2300"/>
              <a:t>Modelo Dimensional - Esquema Estrela</a:t>
            </a:r>
            <a:endParaRPr sz="2300"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4414200"/>
            <a:ext cx="863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O esquema estrela organiza a tabela FATO_PRODUCAO no centro e as dimensões DIM_TEMPO, DIM_MUNICIPIO e DIM_PRODUTO ao redor. As dimensões são desnormalizadas, reduzindo a necessidade de junções e favorecendo o desempenho das consultas analíticas</a:t>
            </a:r>
            <a:r>
              <a:rPr lang="pt-BR" sz="1100">
                <a:solidFill>
                  <a:schemeClr val="dk1"/>
                </a:solidFill>
              </a:rPr>
              <a:t>.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3" name="Google Shape;163;p30" title="Esquema Estrela de Produção Agríco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50" y="1017725"/>
            <a:ext cx="8520601" cy="33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410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10"/>
            </a:pPr>
            <a:r>
              <a:rPr lang="pt-BR" sz="2300"/>
              <a:t>Modelo Dimensional - </a:t>
            </a:r>
            <a:r>
              <a:rPr lang="pt-BR" sz="2300"/>
              <a:t>Simulação de inserção de 10 fatos</a:t>
            </a:r>
            <a:endParaRPr sz="2300"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98000" y="3818775"/>
            <a:ext cx="81636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1100"/>
              <a:t>DIM_TEMPO:</a:t>
            </a:r>
            <a:r>
              <a:rPr lang="pt-BR" sz="1100"/>
              <a:t> 9 = 2024 | 10 = 2025; </a:t>
            </a:r>
            <a:r>
              <a:rPr b="1" lang="pt-BR" sz="1100"/>
              <a:t>DIM_MUNICIPIO:</a:t>
            </a:r>
            <a:r>
              <a:rPr lang="pt-BR" sz="1100"/>
              <a:t> 1 = Serra Talhada; </a:t>
            </a:r>
            <a:r>
              <a:rPr b="1" lang="pt-BR" sz="1100"/>
              <a:t>DIM_PRODUTO:</a:t>
            </a:r>
            <a:r>
              <a:rPr lang="pt-BR" sz="1100"/>
              <a:t> 1 = Feijão | 2 = Milho | 3 = Mandioca | 4 = Banana | 5 = Goiaba </a:t>
            </a:r>
            <a:endParaRPr/>
          </a:p>
        </p:txBody>
      </p:sp>
      <p:graphicFrame>
        <p:nvGraphicFramePr>
          <p:cNvPr id="170" name="Google Shape;170;p31"/>
          <p:cNvGraphicFramePr/>
          <p:nvPr/>
        </p:nvGraphicFramePr>
        <p:xfrm>
          <a:off x="398000" y="158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{A712ACF1-19F5-459C-98A9-E98D20A1CC97}</a:tableStyleId>
              </a:tblPr>
              <a:tblGrid>
                <a:gridCol w="1020450"/>
                <a:gridCol w="1020450"/>
                <a:gridCol w="1020450"/>
                <a:gridCol w="1020450"/>
                <a:gridCol w="1020450"/>
                <a:gridCol w="1020450"/>
                <a:gridCol w="1020450"/>
                <a:gridCol w="1020450"/>
              </a:tblGrid>
              <a:tr h="20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id_tempo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id_municipio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id_produto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Área plantada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Área colhida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Quantidade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Rendimento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Valor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2.215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2.215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354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160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1.062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3.300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3.300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473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10.511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591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330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11.000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1.440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45.000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1.872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2.205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1.002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194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3.300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465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10.333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550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11.000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660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875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35.000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1.138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31"/>
          <p:cNvSpPr txBox="1"/>
          <p:nvPr/>
        </p:nvSpPr>
        <p:spPr>
          <a:xfrm>
            <a:off x="1210200" y="4673825"/>
            <a:ext cx="67236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2"/>
                </a:solidFill>
              </a:rPr>
              <a:t>Unidades:</a:t>
            </a:r>
            <a:r>
              <a:rPr lang="pt-BR" sz="1100">
                <a:solidFill>
                  <a:schemeClr val="dk2"/>
                </a:solidFill>
              </a:rPr>
              <a:t> Área = ha | Quantidade = toneladas | Rendimento = kg/ha | Valor = mil reais.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10"/>
            </a:pPr>
            <a:r>
              <a:rPr lang="pt-BR" sz="2300"/>
              <a:t>Modelo Dimensional do Data Mart - Estimativa de Espaço </a:t>
            </a:r>
            <a:endParaRPr sz="2300"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b="1" lang="pt-BR" sz="1400"/>
              <a:t>Quantidade de produtos:</a:t>
            </a:r>
            <a:r>
              <a:rPr lang="pt-BR" sz="1400"/>
              <a:t> 85</a:t>
            </a:r>
            <a:endParaRPr sz="1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b="1" lang="pt-BR" sz="1400"/>
              <a:t>Quantidade de anos:</a:t>
            </a:r>
            <a:r>
              <a:rPr lang="pt-BR" sz="1400"/>
              <a:t> 10</a:t>
            </a:r>
            <a:endParaRPr sz="1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b="1" lang="pt-BR" sz="1400"/>
              <a:t>Quantidade de municípios:</a:t>
            </a:r>
            <a:r>
              <a:rPr lang="pt-BR" sz="1400"/>
              <a:t> 184</a:t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/>
              <a:t>85 produtos × 10 anos × 184 municípios = 156.400 registros </a:t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/>
              <a:t>Considerando a granularidade </a:t>
            </a:r>
            <a:r>
              <a:rPr b="1" lang="pt-BR" sz="1400"/>
              <a:t>Produto × Município × Ano</a:t>
            </a:r>
            <a:r>
              <a:rPr lang="pt-BR" sz="1400"/>
              <a:t>, estima-se um máximo de </a:t>
            </a:r>
            <a:r>
              <a:rPr b="1" lang="pt-BR" sz="1400"/>
              <a:t>156.400 registros</a:t>
            </a:r>
            <a:r>
              <a:rPr lang="pt-BR" sz="1400"/>
              <a:t> na tabela FATO_PRODUCAO para o período de 2016 a 2025. 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b="1" lang="pt-BR" sz="1400"/>
              <a:t>Observação:</a:t>
            </a:r>
            <a:r>
              <a:rPr lang="pt-BR" sz="1400"/>
              <a:t> essa é uma estimativa máxima teórica. Nem todos os produtos apresentam dados para todos os municípios e anos.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